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6692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</a:defRPr>
            </a:pPr>
            <a:r>
              <a:t>SpaceRisk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Todos los riesgos a la vista, del equipo al consejo de administración.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C7D0EF"/>
                </a:solidFill>
              </a:defRPr>
            </a:pPr>
            <a:r>
              <a:t>Gestión de riesgos ISO 31000 sencilla, con bowties, barreras y un ritmo mensual.</a:t>
            </a:r>
          </a:p>
        </p:txBody>
      </p:sp>
      <p:pic>
        <p:nvPicPr>
          <p:cNvPr id="7" name="Picture 6" descr="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303520" cy="2227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Los registros de riesgos mueren en hojas de cálculo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Se actualizan una vez al año y nadie los lee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Los controles se enumeran, pero nunca se prueban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La dirección ve cifras, no barreras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Proyectos y equipos llevan listas por separado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SpaceRisk en una frase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237744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6314D"/>
                </a:solidFill>
              </a:defRPr>
            </a:pPr>
            <a:r>
              <a:t>Los equipos mantienen vivos sus riesgos y barreras cada mes, y la dirección ve el panorama completo en bowties, mapas de calor y dinero.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El bowtie: un riesgo en una página</a:t>
            </a:r>
          </a:p>
        </p:txBody>
      </p:sp>
      <p:pic>
        <p:nvPicPr>
          <p:cNvPr id="4" name="Picture 3" descr="bow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669280" cy="2381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Amenazas → barreras preventivas → evento principal → barreras mitigadoras → consecuencias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Barreras coloreadas según su eficacia</a:t>
            </a:r>
          </a:p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Brechas indicadas con líneas rojas discontinuas</a:t>
            </a:r>
          </a:p>
        </p:txBody>
      </p:sp>
      <p:pic>
        <p:nvPicPr>
          <p:cNvPr id="6" name="Picture 5" descr="domain-bow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937760" cy="2915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Del equipo al 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Miembro del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Registra nuevos riesgos y revisa los existentes.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77639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Responsable del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Comprueba las barreras del equipo y certifica el informe mensual.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3063240"/>
            <a:ext cx="457200" cy="45720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2194560"/>
            <a:ext cx="3291840" cy="2194560"/>
          </a:xfrm>
          <a:prstGeom prst="roundRect">
            <a:avLst/>
          </a:prstGeom>
          <a:solidFill>
            <a:srgbClr val="E3FBF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A44"/>
                </a:solidFill>
              </a:defRPr>
            </a:pPr>
            <a:r>
              <a:t>CEO / CISO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175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B6585"/>
                </a:solidFill>
              </a:defRPr>
            </a:pPr>
            <a:r>
              <a:t>Recibe el resumen ejecutivo, el mapa de calor y la vista financiera, en PDF o PowerPoint.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B6585"/>
                </a:solidFill>
              </a:defRPr>
            </a:pPr>
            <a:r>
              <a:t>Los responsables de cada barrera confirman cada mes que sus controles siguen funcionando, o los señalan antes de que fallen.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Del equipo de proyecto al director de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Cada proyecto es un equipo con sus propios riesgos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Los directores de proyecto envían el informe mensual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Todos los proyectos lado a lado, exportables</a:t>
            </a:r>
          </a:p>
        </p:txBody>
      </p:sp>
      <p:pic>
        <p:nvPicPr>
          <p:cNvPr id="5" name="Picture 4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Un ritmo mensual que se mantiene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Cada riesgo revisado, cada barrera propia comprobada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Los informes solo pueden enviarse cuando el trabajo está hecho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Las tendencias muestran si el riesgo sube o baja</a:t>
            </a:r>
          </a:p>
        </p:txBody>
      </p:sp>
      <p:pic>
        <p:nvPicPr>
          <p:cNvPr id="5" name="Picture 4" descr="execut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El riesgo en dinero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Exposición total, Valor en Riesgo (VaR) y pérdida anual esperada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Antes y después de las barreras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Retorno de cada corona invertida en controles</a:t>
            </a:r>
          </a:p>
        </p:txBody>
      </p:sp>
      <p:pic>
        <p:nvPicPr>
          <p:cNvPr id="5" name="Picture 4" descr="financial-persp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6700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Listo para el consejo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Resumen ejecutivo con mensajes clave y su comentario</a:t>
            </a:r>
          </a:p>
          <a:p>
            <a:pPr>
              <a:spcAft>
                <a:spcPts val="1000"/>
              </a:spcAft>
              <a:defRPr sz="1900" b="0">
                <a:solidFill>
                  <a:srgbClr val="26314D"/>
                </a:solidFill>
              </a:defRPr>
            </a:pPr>
            <a:r>
              <a:t>• PDF, PowerPoint y Excel para cada página, equipo y proyecto</a:t>
            </a:r>
          </a:p>
        </p:txBody>
      </p:sp>
      <p:pic>
        <p:nvPicPr>
          <p:cNvPr id="5" name="Picture 4" descr="executiv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97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Pensado para su sector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97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93 empresas de ejemplo realistas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Desde hospitales y aerolíneas hasta plataformas petrolíferas y hedge 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Cargue una con un clic en una instalación nueva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1F2A44"/>
                </a:solidFill>
              </a:defRPr>
            </a:pPr>
            <a:r>
              <a:t>Empezar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Autoalojado en Cloudron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Sus datos se quedan con usted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79"/>
            <a:ext cx="10881360" cy="868680"/>
          </a:xfrm>
          <a:prstGeom prst="roundRect">
            <a:avLst/>
          </a:prstGeom>
          <a:solidFill>
            <a:srgbClr val="F6F8FC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6314D"/>
                </a:solidFill>
              </a:defRPr>
            </a:pPr>
            <a:r>
              <a:t>Cargue un caso de ejemplo e invite a sus equipos hoy mismo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