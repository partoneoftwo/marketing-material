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48640"/>
            <a:ext cx="548640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325880" y="566928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400" b="1">
                <a:solidFill>
                  <a:srgbClr val="FFFFFF"/>
                </a:solidFill>
              </a:defRPr>
            </a:pPr>
            <a:r>
              <a:t>SpaceRisk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6692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600" b="1">
                <a:solidFill>
                  <a:srgbClr val="FFFFFF"/>
                </a:solidFill>
              </a:defRPr>
            </a:pPr>
            <a:r>
              <a:t>Veja cada risco — da equipe na linha de frente até a sala do conselho.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C7D0EF"/>
                </a:solidFill>
              </a:defRPr>
            </a:pPr>
            <a:r>
              <a:t>Gestão de riscos ISO 31000 descomplicada, com bowties, barreiras e um ritmo mensal.</a:t>
            </a:r>
          </a:p>
        </p:txBody>
      </p:sp>
      <p:pic>
        <p:nvPicPr>
          <p:cNvPr id="7" name="Picture 6" descr="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737360"/>
            <a:ext cx="5303520" cy="222747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Registros de riscos morrem em planilhas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Atualizados uma vez por ano, lidos por ninguém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Os controles são listados, mas nunca testados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Os executivos veem números, não barreiras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Projetos e equipes mantêm listas separadas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O SpaceRisk em uma frase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237744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800" b="1">
                <a:solidFill>
                  <a:srgbClr val="26314D"/>
                </a:solidFill>
              </a:defRPr>
            </a:pPr>
            <a:r>
              <a:t>As equipes mantêm seus riscos e barreiras vivos todo mês — e os líderes enxergam o quadro completo em bowties, mapas de calor e dinheiro.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O bowtie: um risco em uma página</a:t>
            </a:r>
          </a:p>
        </p:txBody>
      </p:sp>
      <p:pic>
        <p:nvPicPr>
          <p:cNvPr id="4" name="Picture 3" descr="bowt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5669280" cy="23810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4572000"/>
            <a:ext cx="5669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Ameaças → barreiras preventivas → evento topo → barreiras mitigadoras → consequências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Barreiras coloridas conforme a eficácia</a:t>
            </a:r>
          </a:p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Lacunas exibidas como linhas vermelhas tracejadas</a:t>
            </a:r>
          </a:p>
        </p:txBody>
      </p:sp>
      <p:pic>
        <p:nvPicPr>
          <p:cNvPr id="6" name="Picture 5" descr="domain-bowti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5120" y="1737360"/>
            <a:ext cx="4937760" cy="291529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 equipe ao CEO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Membro da equipe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Registra novos riscos e revisa os existentes.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48056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0916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Líder da 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6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Verifica as barreiras da equipe e atesta o relatório mensal.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818120" y="3063240"/>
            <a:ext cx="457200" cy="457200"/>
          </a:xfrm>
          <a:prstGeom prst="rightArrow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321040" y="2194560"/>
            <a:ext cx="3291840" cy="2194560"/>
          </a:xfrm>
          <a:prstGeom prst="roundRect">
            <a:avLst/>
          </a:prstGeom>
          <a:solidFill>
            <a:srgbClr val="E3FBF6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49640" y="2377440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>
                <a:solidFill>
                  <a:srgbClr val="1F2A44"/>
                </a:solidFill>
              </a:defRPr>
            </a:pPr>
            <a:r>
              <a:t>CEO / CISO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49640" y="301752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500" b="0">
                <a:solidFill>
                  <a:srgbClr val="5B6585"/>
                </a:solidFill>
              </a:defRPr>
            </a:pPr>
            <a:r>
              <a:t>Recebe o resumo executivo, o mapa de calor e a visão financeira — em PDF ou PowerPoint.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4632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0">
                <a:solidFill>
                  <a:srgbClr val="5B6585"/>
                </a:solidFill>
              </a:defRPr>
            </a:pPr>
            <a:r>
              <a:t>Os responsáveis pelas barreiras confirmam todo mês que seus controles continuam funcionando — ou dão o alerta antes que falhem.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Da equipe do projeto ao gerente de projeto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Cada projeto é uma equipe com seus próprios riscos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Gerentes de projeto enviam o relatório mensal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Todos os projetos lado a lado, prontos para exportar</a:t>
            </a:r>
          </a:p>
        </p:txBody>
      </p:sp>
      <p:pic>
        <p:nvPicPr>
          <p:cNvPr id="5" name="Picture 4" descr="proj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Um ritmo mensal que pega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Todo risco revisado, toda barreira sob responsabilidade verificada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O relatório só pode ser enviado quando o trabalho estiver concluído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As tendências mostram se o risco está subindo ou caindo</a:t>
            </a:r>
          </a:p>
        </p:txBody>
      </p:sp>
      <p:pic>
        <p:nvPicPr>
          <p:cNvPr id="5" name="Picture 4" descr="executiv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BBF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Risco em dinheiro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Exposição total, Valor em Risco (VaR) e perda anual esperada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Antes e depois das barreiras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Retorno de cada coroa investida em controles</a:t>
            </a:r>
          </a:p>
        </p:txBody>
      </p:sp>
      <p:pic>
        <p:nvPicPr>
          <p:cNvPr id="5" name="Picture 4" descr="financial-perspect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670056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Pronto para o conselho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47548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Resumo executivo com mensagens-chave e o seu comentário</a:t>
            </a:r>
          </a:p>
          <a:p>
            <a:pPr>
              <a:spcAft>
                <a:spcPts val="1000"/>
              </a:spcAft>
              <a:defRPr sz="1900" b="0">
                <a:solidFill>
                  <a:srgbClr val="26314D"/>
                </a:solidFill>
              </a:defRPr>
            </a:pPr>
            <a:r>
              <a:t>• PDF, PowerPoint e Excel para cada página, equipe e projeto</a:t>
            </a:r>
          </a:p>
        </p:txBody>
      </p:sp>
      <p:pic>
        <p:nvPicPr>
          <p:cNvPr id="5" name="Picture 4" descr="executive-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645920"/>
            <a:ext cx="5943600" cy="371475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973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Feito para o seu setor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91 empresas de vitrine realistas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De hospitais e companhias aéreas a plataformas de petróleo e hedge funds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Carregue uma com um clique em uma instalação nova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1F2A44"/>
                </a:solidFill>
              </a:defRPr>
            </a:pPr>
            <a:r>
              <a:t>Fale conosco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14B8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Nós hospedamos o SpaceRisk para você — ou você mesmo o hospeda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78892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BBF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92607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Exporte seus dados em vários formatos: PDF, PowerPoint, Excel e backups completos do banco de dados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79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Seus dados são seus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892040"/>
            <a:ext cx="10881360" cy="868680"/>
          </a:xfrm>
          <a:prstGeom prst="roundRect">
            <a:avLst/>
          </a:prstGeom>
          <a:solidFill>
            <a:srgbClr val="F6F8FC"/>
          </a:solidFill>
          <a:ln>
            <a:solidFill>
              <a:srgbClr val="F9736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10424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 b="0">
                <a:solidFill>
                  <a:srgbClr val="26314D"/>
                </a:solidFill>
              </a:defRPr>
            </a:pPr>
            <a:r>
              <a:t>thomas.frivold@frivolddigital.com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