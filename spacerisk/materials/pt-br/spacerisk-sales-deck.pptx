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5669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FFFFF"/>
                </a:solidFill>
              </a:defRPr>
            </a:pPr>
            <a:r>
              <a:t>SpaceRisk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669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Veja cada risco — da equipe na linha de frente até a sala do conselho.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C7D0EF"/>
                </a:solidFill>
              </a:defRPr>
            </a:pPr>
            <a:r>
              <a:t>Gestão de riscos ISO 31000 descomplicada, com bowties, barreiras e um ritmo mensal.</a:t>
            </a:r>
          </a:p>
        </p:txBody>
      </p:sp>
      <p:pic>
        <p:nvPicPr>
          <p:cNvPr id="7" name="Picture 6" descr="bowt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37360"/>
            <a:ext cx="5303520" cy="22274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973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Registros de riscos morrem em planilhas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F97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Atualizados uma vez por ano, lidos por ninguém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8892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7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Os controles são listados, mas nunca testados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79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Os executivos veem números, não barreiras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9204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Projetos e equipes mantêm listas separadas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O SpaceRisk em uma frase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881360" cy="2377440"/>
          </a:xfrm>
          <a:prstGeom prst="roundRect">
            <a:avLst/>
          </a:prstGeom>
          <a:solidFill>
            <a:srgbClr val="F6F8FC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26314D"/>
                </a:solidFill>
              </a:defRPr>
            </a:pPr>
            <a:r>
              <a:t>As equipes mantêm seus riscos e barreiras vivos todo mês — e os líderes enxergam o quadro completo em bowties, mapas de calor e dinheiro.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O bowtie: um risco em uma página</a:t>
            </a:r>
          </a:p>
        </p:txBody>
      </p:sp>
      <p:pic>
        <p:nvPicPr>
          <p:cNvPr id="4" name="Picture 3" descr="bowt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5669280" cy="23810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57200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B6585"/>
                </a:solidFill>
              </a:defRPr>
            </a:pPr>
            <a:r>
              <a:t>Ameaças → barreiras preventivas → evento de perigo → barreiras mitigadoras → consequências</a:t>
            </a:r>
          </a:p>
          <a:p>
            <a:pPr>
              <a:spcAft>
                <a:spcPts val="1000"/>
              </a:spcAft>
              <a:defRPr sz="1500" b="0">
                <a:solidFill>
                  <a:srgbClr val="5B6585"/>
                </a:solidFill>
              </a:defRPr>
            </a:pPr>
            <a:r>
              <a:t>Barreiras coloridas conforme a eficácia</a:t>
            </a:r>
          </a:p>
          <a:p>
            <a:pPr>
              <a:spcAft>
                <a:spcPts val="1000"/>
              </a:spcAft>
              <a:defRPr sz="1500" b="0">
                <a:solidFill>
                  <a:srgbClr val="5B6585"/>
                </a:solidFill>
              </a:defRPr>
            </a:pPr>
            <a:r>
              <a:t>Lacunas exibidas como linhas vermelhas tracejadas</a:t>
            </a:r>
          </a:p>
        </p:txBody>
      </p:sp>
      <p:pic>
        <p:nvPicPr>
          <p:cNvPr id="6" name="Picture 5" descr="domain-bowt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737360"/>
            <a:ext cx="4937760" cy="29152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Da equipe ao CEO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94560"/>
            <a:ext cx="3291840" cy="2194560"/>
          </a:xfrm>
          <a:prstGeom prst="roundRect">
            <a:avLst/>
          </a:prstGeom>
          <a:solidFill>
            <a:srgbClr val="E3FBF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F2A44"/>
                </a:solidFill>
              </a:defRPr>
            </a:pPr>
            <a:r>
              <a:t>Membro da equipe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175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B6585"/>
                </a:solidFill>
              </a:defRPr>
            </a:pPr>
            <a:r>
              <a:t>Registra novos riscos e revisa os existentes.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77639" y="3063240"/>
            <a:ext cx="457200" cy="45720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80560" y="2194560"/>
            <a:ext cx="3291840" cy="2194560"/>
          </a:xfrm>
          <a:prstGeom prst="roundRect">
            <a:avLst/>
          </a:prstGeom>
          <a:solidFill>
            <a:srgbClr val="E3FBF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377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F2A44"/>
                </a:solidFill>
              </a:defRPr>
            </a:pPr>
            <a:r>
              <a:t>Líder da equipe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30175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B6585"/>
                </a:solidFill>
              </a:defRPr>
            </a:pPr>
            <a:r>
              <a:t>Verifica as barreiras da equipe e atesta o relatório mensal.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18120" y="3063240"/>
            <a:ext cx="457200" cy="45720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21040" y="2194560"/>
            <a:ext cx="3291840" cy="2194560"/>
          </a:xfrm>
          <a:prstGeom prst="roundRect">
            <a:avLst/>
          </a:prstGeom>
          <a:solidFill>
            <a:srgbClr val="E3FBF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2377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F2A44"/>
                </a:solidFill>
              </a:defRPr>
            </a:pPr>
            <a:r>
              <a:t>CEO / CISO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30175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B6585"/>
                </a:solidFill>
              </a:defRPr>
            </a:pPr>
            <a:r>
              <a:t>Recebe o resumo executivo, o mapa de calor e a visão financeira — em PDF ou PowerPoint.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5B6585"/>
                </a:solidFill>
              </a:defRPr>
            </a:pPr>
            <a:r>
              <a:t>Os responsáveis pelas barreiras confirmam todo mês que seus controles continuam funcionando — ou dão o alerta antes que falhem.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973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Da equipe do projeto ao gerente de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Cada projeto é uma equipe com seus próprios riscos</a:t>
            </a:r>
          </a:p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Gerentes de projeto enviam o relatório mensal</a:t>
            </a:r>
          </a:p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Todos os projetos lado a lado, prontos para exportar</a:t>
            </a:r>
          </a:p>
        </p:txBody>
      </p:sp>
      <p:pic>
        <p:nvPicPr>
          <p:cNvPr id="5" name="Picture 4" descr="pro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5943600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Um ritmo mensal que pega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Todo risco revisado, toda barreira sob responsabilidade verificada</a:t>
            </a:r>
          </a:p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O relatório só pode ser enviado quando o trabalho estiver concluído</a:t>
            </a:r>
          </a:p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As tendências mostram se o risco está subindo ou caindo</a:t>
            </a:r>
          </a:p>
        </p:txBody>
      </p:sp>
      <p:pic>
        <p:nvPicPr>
          <p:cNvPr id="5" name="Picture 4" descr="executive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5943600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Risco em dinheiro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Exposição total, Valor em Risco (VaR) e perda anual esperada</a:t>
            </a:r>
          </a:p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Antes e depois das barreiras</a:t>
            </a:r>
          </a:p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Retorno de cada coroa investida em controles</a:t>
            </a:r>
          </a:p>
        </p:txBody>
      </p:sp>
      <p:pic>
        <p:nvPicPr>
          <p:cNvPr id="5" name="Picture 4" descr="financial-persp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5943600" cy="67005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Pronto para o conselho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Resumo executivo com mensagens-chave e o seu comentário</a:t>
            </a:r>
          </a:p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PDF, PowerPoint e Excel para cada página, equipe e projeto</a:t>
            </a:r>
          </a:p>
        </p:txBody>
      </p:sp>
      <p:pic>
        <p:nvPicPr>
          <p:cNvPr id="5" name="Picture 4" descr="executive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5943600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973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Feito para o seu setor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F97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92 empresas de vitrine realistas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8892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7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De hospitais e companhias aéreas a plataformas de petróleo e hedge funds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79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Carregue uma com um clique em uma instalação nova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Fale conosco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Nós hospedamos o SpaceRisk para você — ou você mesmo o hospeda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8892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7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Exporte seus dados em vários formatos: PDF, PowerPoint, Excel e backups completos do banco de dados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79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Seus dados são seus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9204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F97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thomas.frivold@frivolddigital.com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